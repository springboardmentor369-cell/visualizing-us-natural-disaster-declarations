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5CBB-D759-2E5F-478F-C7E0FD8B9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78862-696D-A627-F731-24E0601D4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B0B2D-15E1-9A30-20F9-165DC1C8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4A2A3-981F-6A1C-75BA-9FBD2BA6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471E-B4E5-1A4E-4D27-3BD11513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58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473C-6E90-5BC1-1E66-44CCB587B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E44F-B741-D8E2-7906-34684600D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C0909-A8F4-2564-D5D0-47EEB15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64E0C-6A7D-1E73-F9B9-A6042588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399BD-5DA2-02BE-434C-D266D9EB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26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B6B37-5D36-E06E-5C64-A092DEBA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339B1-6E66-8B5B-5CA8-787CA1AAD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DBFC7-D99C-A89E-2A88-2E6F0917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AF103-9F4A-601B-295F-0D1972FA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91F93-2A8C-9491-2B46-9BB2504C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88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A284-B574-2473-DC3A-C932224A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BEA84-69E4-F393-47A6-BD00C5D40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39D83-6BF4-320F-AC64-11F7A3B28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8E796-3F54-A387-32B1-5DA28EE2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39FF8-645E-EDD8-7462-DF4BE4A3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27BD8-A215-3220-F965-83B0E9AC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37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E830B-92DF-E3D8-A4B3-706E44BF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EED25-5104-C7DF-2BC4-DCB497C05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9FF83-223B-258A-DB0A-AE44B5F77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0F2C0-0676-6BC9-B6AA-2A96B0057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99A77-5BC6-40CB-8C32-DD626F997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C591A-4F11-588B-C04C-1F410F0A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1B55A-E818-335F-B479-C63F271E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C4466-175A-CB41-0153-35EA46DB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2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4C80-444E-A2F2-CC29-BB83EA55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45F60-030B-6860-9C20-427BB1264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E9274-C4FB-8749-F2C1-1321C6E7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DD789-EC22-A3FF-8427-C7449D71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0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6E098-6B6A-6EE5-F70A-2921A336A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B7A78-88E1-D65F-7DBA-B13B7927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C72DE-9206-4593-7B4D-E869CEFC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71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C1F83-AC29-8624-E366-4A00E475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05ED1-DD66-1247-90C9-FB95FBC14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F0EF9-E46C-790A-08C7-4930480DB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96617-57DD-62D9-FC24-E438AA65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00D67-E0AE-09A4-4865-2F493774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AC190-8C6B-B7A8-9BFF-B024AE4F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83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3F46-4E4C-984E-B91E-31A0CF20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0FE4F-509C-9199-01E9-6804014FB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93886-21F3-E4CE-C036-6EE799479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5F070-6493-BD55-1C1F-234E0048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8A389-6B18-BE37-2264-221FDC0C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B8E50-5E80-93EF-8572-F380609E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60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D597-DA82-3176-9076-E1338142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8CBA80-8849-5A50-6C31-730B02171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025E-6592-D36E-9E46-FCC82981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CF296-5EFA-26D8-8FE8-B85FF03B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F6284-E4C8-F311-4EE0-E6034212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60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66A40-6F17-2566-6CF8-2B7639E13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7573F-A1D5-3ECC-A47D-DEF9A486C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1B9A9-C9C6-0BF7-8DBB-B81136D2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BF30E-408C-867F-FD97-6D894C37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1EE3-D99D-C643-E635-0AB373E7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91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03A7F-5A15-C2B9-A08C-396D57B4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E9B11-0DCB-544E-AEDF-92CF19134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A2100-2378-D225-D2A1-DE1EE9E59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07080-6BA1-43CC-8BF3-1397C6871283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5CECD-1AFD-A73F-9DC4-75CAE2101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1C82F-CBB7-53EE-6608-A3DA18B50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C7F5A-F590-45AD-92EE-94CBE6776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500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waroopSai23/Visualizing-US-Natural-Disaster-Declarations-Trends-and-Patterns/tree/ma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cJkzspuwOXlw9A1Cf9M6G8i6HY0pnJtf?usp=shar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74D3-06A0-D242-7B30-0FF7366BD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6602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linkClick r:id="rId2"/>
              </a:rPr>
              <a:t>Visualizing-US-Natural-Disaster-Declarations-Trends-and-Patterns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73C24-E1AE-7F5B-43B9-B0D049007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5257800"/>
            <a:ext cx="3687097" cy="53340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62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840B-BF87-17FB-D599-3695EF2F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EDF39-7BED-1CE5-F8E1-2E7ACFA7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(EDA &amp; cleaning)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Desktop (visualization)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A823D7-E0E8-18BA-3D32-0389BD9E5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35478"/>
            <a:ext cx="41762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and region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Disaster type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Incident dates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 status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Assistance programs requested</a:t>
            </a:r>
          </a:p>
        </p:txBody>
      </p:sp>
    </p:spTree>
    <p:extLst>
      <p:ext uri="{BB962C8B-B14F-4D97-AF65-F5344CB8AC3E}">
        <p14:creationId xmlns:p14="http://schemas.microsoft.com/office/powerpoint/2010/main" val="190214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F1F3-B0AB-F446-BE19-920C422F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 Cleaning &amp; Preparation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024F-DB35-1A4E-0D8B-A81D9B000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Steps Performed:</a:t>
            </a:r>
            <a:endParaRPr lang="en-IN" dirty="0"/>
          </a:p>
          <a:p>
            <a:r>
              <a:rPr lang="en-US" dirty="0"/>
              <a:t>Checked missing values using EDA</a:t>
            </a:r>
          </a:p>
          <a:p>
            <a:r>
              <a:rPr lang="en-US" dirty="0"/>
              <a:t>Retained missing end dates as they represent ongoing or single-day disasters</a:t>
            </a:r>
          </a:p>
          <a:p>
            <a:r>
              <a:rPr lang="en-IN" dirty="0"/>
              <a:t>Removed non-analytical ID columns</a:t>
            </a:r>
          </a:p>
          <a:p>
            <a:r>
              <a:rPr lang="en-US" dirty="0"/>
              <a:t>Ensured correct data types (date, numeric, categorical)</a:t>
            </a:r>
            <a:endParaRPr lang="en-IN" dirty="0"/>
          </a:p>
          <a:p>
            <a:pPr marL="0" indent="0">
              <a:buNone/>
            </a:pPr>
            <a:r>
              <a:rPr lang="en-IN" b="1" dirty="0" err="1"/>
              <a:t>Colab</a:t>
            </a:r>
            <a:r>
              <a:rPr lang="en-IN" b="1" dirty="0"/>
              <a:t> Link:</a:t>
            </a:r>
          </a:p>
          <a:p>
            <a:pPr marL="0" indent="0">
              <a:buNone/>
            </a:pPr>
            <a:r>
              <a:rPr lang="en-IN" b="1" dirty="0">
                <a:hlinkClick r:id="rId2"/>
              </a:rPr>
              <a:t>https://colab.research.google.com/drive/1cJkzspuwOXlw9A1Cf9M6G8i6HY0pnJtf?usp=sharing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94630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C1B2-35B9-48F0-1415-47B42FECB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2733"/>
          </a:xfrm>
        </p:spPr>
        <p:txBody>
          <a:bodyPr/>
          <a:lstStyle/>
          <a:p>
            <a:r>
              <a:rPr lang="en-IN" b="1" u="sng" dirty="0"/>
              <a:t>Data </a:t>
            </a:r>
            <a:r>
              <a:rPr lang="en-IN" b="1" u="sng" dirty="0" err="1"/>
              <a:t>Modeling</a:t>
            </a:r>
            <a:r>
              <a:rPr lang="en-IN" b="1" u="sng" dirty="0"/>
              <a:t> &amp;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DDB5-36E6-F1C0-B4CF-FFE13330F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677"/>
            <a:ext cx="10515600" cy="475128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b="1" dirty="0"/>
              <a:t>Data Modeling</a:t>
            </a:r>
          </a:p>
          <a:p>
            <a:r>
              <a:rPr lang="en-US" sz="3200" dirty="0"/>
              <a:t>Centralized fact table for disaster declaration requests</a:t>
            </a:r>
          </a:p>
          <a:p>
            <a:r>
              <a:rPr lang="en-US" sz="3200" dirty="0"/>
              <a:t>Dimension attributes include State, Disaster Type, and Year</a:t>
            </a:r>
          </a:p>
          <a:p>
            <a:r>
              <a:rPr lang="en-US" sz="3200" dirty="0"/>
              <a:t>Relationships designed to support multi-dimensional analysis</a:t>
            </a:r>
          </a:p>
          <a:p>
            <a:r>
              <a:rPr lang="en-US" sz="3200" dirty="0"/>
              <a:t>Optimized data model for accurate aggregation and performance</a:t>
            </a:r>
          </a:p>
          <a:p>
            <a:pPr marL="0" indent="0">
              <a:buNone/>
            </a:pPr>
            <a:endParaRPr lang="en-US" sz="3300" dirty="0"/>
          </a:p>
          <a:p>
            <a:pPr marL="0" indent="0">
              <a:buNone/>
            </a:pPr>
            <a:r>
              <a:rPr lang="en-US" sz="3300" b="1" dirty="0"/>
              <a:t>DAX Measures</a:t>
            </a:r>
          </a:p>
          <a:p>
            <a:r>
              <a:rPr lang="en-US" sz="2900" dirty="0"/>
              <a:t>Developed </a:t>
            </a:r>
            <a:r>
              <a:rPr lang="en-US" sz="2900" b="1" dirty="0"/>
              <a:t>multiple DAX measures</a:t>
            </a:r>
            <a:r>
              <a:rPr lang="en-US" sz="2900" dirty="0"/>
              <a:t> to support dynamic analysis</a:t>
            </a:r>
          </a:p>
          <a:p>
            <a:r>
              <a:rPr lang="en-US" sz="2900" dirty="0"/>
              <a:t>Measures used for:</a:t>
            </a:r>
          </a:p>
          <a:p>
            <a:pPr lvl="1"/>
            <a:r>
              <a:rPr lang="en-US" sz="2900" dirty="0"/>
              <a:t>Total and filtered disaster request counts</a:t>
            </a:r>
          </a:p>
          <a:p>
            <a:pPr lvl="1"/>
            <a:r>
              <a:rPr lang="en-US" sz="2900" dirty="0"/>
              <a:t>State-wise and disaster-type-wise analysis</a:t>
            </a:r>
          </a:p>
          <a:p>
            <a:pPr lvl="1"/>
            <a:r>
              <a:rPr lang="en-US" sz="2900" dirty="0"/>
              <a:t>Year-wise and trend-based insights</a:t>
            </a:r>
          </a:p>
          <a:p>
            <a:r>
              <a:rPr lang="en-US" sz="2900" dirty="0"/>
              <a:t>DAX measures enable:</a:t>
            </a:r>
          </a:p>
          <a:p>
            <a:pPr lvl="1"/>
            <a:r>
              <a:rPr lang="en-US" sz="2900" dirty="0"/>
              <a:t>Consistent calculations across all visuals</a:t>
            </a:r>
          </a:p>
          <a:p>
            <a:pPr lvl="1"/>
            <a:r>
              <a:rPr lang="en-US" sz="2900" dirty="0"/>
              <a:t>Interactive filtering using slicers</a:t>
            </a:r>
          </a:p>
          <a:p>
            <a:pPr lvl="1"/>
            <a:r>
              <a:rPr lang="en-US" sz="2900" dirty="0"/>
              <a:t>Improved report scalability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162028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A522-D427-1CF6-BAD6-25A590871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KPI(Key Performance Indicators)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3268E-E38F-0BE2-8BE3-1ACC5EF3E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226"/>
            <a:ext cx="10515600" cy="5193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Explanation of KPI:</a:t>
            </a:r>
            <a:endParaRPr lang="en-IN" u="sng" dirty="0"/>
          </a:p>
          <a:p>
            <a:r>
              <a:rPr lang="en-US" sz="2400" b="1" dirty="0"/>
              <a:t>Total Disaster Declaration Requests</a:t>
            </a:r>
            <a:br>
              <a:rPr lang="en-US" sz="2400" dirty="0"/>
            </a:br>
            <a:r>
              <a:rPr lang="en-US" sz="2400" dirty="0"/>
              <a:t>Overall count of disaster requests across all states</a:t>
            </a:r>
          </a:p>
          <a:p>
            <a:r>
              <a:rPr lang="en-US" sz="2400" b="1" dirty="0"/>
              <a:t>Most Affected State</a:t>
            </a:r>
            <a:br>
              <a:rPr lang="en-US" sz="2400" dirty="0"/>
            </a:br>
            <a:r>
              <a:rPr lang="en-US" sz="2400" dirty="0" err="1"/>
              <a:t>State</a:t>
            </a:r>
            <a:r>
              <a:rPr lang="en-US" sz="2400" dirty="0"/>
              <a:t> with the highest number of disaster declarations</a:t>
            </a:r>
          </a:p>
          <a:p>
            <a:r>
              <a:rPr lang="en-US" sz="2400" b="1" dirty="0"/>
              <a:t>Most Frequent Disaster Type</a:t>
            </a:r>
            <a:br>
              <a:rPr lang="en-US" sz="2400" dirty="0"/>
            </a:br>
            <a:r>
              <a:rPr lang="en-US" sz="2400" dirty="0"/>
              <a:t>Disaster category with maximum occurrence</a:t>
            </a:r>
            <a:endParaRPr lang="en-IN" sz="2400" dirty="0"/>
          </a:p>
          <a:p>
            <a:r>
              <a:rPr lang="en-US" sz="2400" b="1" dirty="0"/>
              <a:t>Peak Disaster Year</a:t>
            </a:r>
            <a:br>
              <a:rPr lang="en-US" sz="2400" dirty="0"/>
            </a:br>
            <a:r>
              <a:rPr lang="en-US" sz="2400" dirty="0" err="1"/>
              <a:t>Year</a:t>
            </a:r>
            <a:r>
              <a:rPr lang="en-US" sz="2400" dirty="0"/>
              <a:t> with the highest number of disaster requests</a:t>
            </a:r>
          </a:p>
          <a:p>
            <a:r>
              <a:rPr lang="en-US" sz="2400" b="1" dirty="0"/>
              <a:t>Average Requests per State</a:t>
            </a:r>
            <a:br>
              <a:rPr lang="en-US" sz="2400" dirty="0"/>
            </a:br>
            <a:r>
              <a:rPr lang="en-US" sz="2400" dirty="0"/>
              <a:t>Average number of disaster declaration requests across                      states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1E3B2A-704E-3B02-7AEB-C01BAF39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740" y="1052052"/>
            <a:ext cx="1270936" cy="9106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06B626-3E17-26BA-89E8-9C5B761AB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123" y="2825252"/>
            <a:ext cx="1334964" cy="9034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701F1AA-39E3-E102-60AB-BFBAFB583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087" y="1936787"/>
            <a:ext cx="1334964" cy="8719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9FF428B-DA81-CCC1-EC43-D261F93A0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6348" y="3745227"/>
            <a:ext cx="1471240" cy="9538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EFA070A-5024-6091-9C37-589F1A19A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620" y="4655862"/>
            <a:ext cx="1475727" cy="90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17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AE02-2B63-2CDD-9209-B3B3DE5C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Visual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840A-8A2C-E1EA-E8DF-E7FAA91EE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581"/>
            <a:ext cx="10515600" cy="539038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u="sng" dirty="0"/>
              <a:t>Charts Included:</a:t>
            </a:r>
            <a:endParaRPr lang="en-IN" u="sng" dirty="0"/>
          </a:p>
          <a:p>
            <a:r>
              <a:rPr lang="en-US" sz="2900" dirty="0"/>
              <a:t>Top 10 States by Total Declarations</a:t>
            </a:r>
            <a:endParaRPr lang="en-US" sz="2900" i="1" dirty="0"/>
          </a:p>
          <a:p>
            <a:r>
              <a:rPr lang="en-US" sz="2900" dirty="0"/>
              <a:t>Disaster Funding Prioritization Funnel</a:t>
            </a:r>
          </a:p>
          <a:p>
            <a:r>
              <a:rPr lang="en-US" sz="2900" dirty="0"/>
              <a:t>Total Declarations by State </a:t>
            </a:r>
          </a:p>
          <a:p>
            <a:r>
              <a:rPr lang="en-US" sz="2900" dirty="0"/>
              <a:t>Annual Disaster Declarations Trend (1953–2025)</a:t>
            </a:r>
            <a:endParaRPr lang="en-US" sz="2900" i="1" dirty="0"/>
          </a:p>
          <a:p>
            <a:r>
              <a:rPr lang="en-US" sz="2900" dirty="0"/>
              <a:t>Total Declarations by Decade </a:t>
            </a:r>
          </a:p>
          <a:p>
            <a:r>
              <a:rPr lang="en-US" sz="2900" dirty="0"/>
              <a:t>Top Disaster Types by Declaration Share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b="1" u="sng" dirty="0"/>
              <a:t>Key Visual Observations</a:t>
            </a:r>
          </a:p>
          <a:p>
            <a:r>
              <a:rPr lang="en-US" dirty="0"/>
              <a:t>Total disaster declarations recorded are </a:t>
            </a:r>
            <a:r>
              <a:rPr lang="en-US" b="1" dirty="0"/>
              <a:t>1285</a:t>
            </a:r>
            <a:endParaRPr lang="en-US" dirty="0"/>
          </a:p>
          <a:p>
            <a:r>
              <a:rPr lang="en-US" b="1" dirty="0"/>
              <a:t>Flood</a:t>
            </a:r>
            <a:r>
              <a:rPr lang="en-US" dirty="0"/>
              <a:t> is shown as the </a:t>
            </a:r>
            <a:r>
              <a:rPr lang="en-US" b="1" dirty="0"/>
              <a:t>top disaster type</a:t>
            </a:r>
            <a:endParaRPr lang="en-US" dirty="0"/>
          </a:p>
          <a:p>
            <a:r>
              <a:rPr lang="en-US" b="1" dirty="0"/>
              <a:t>Texas</a:t>
            </a:r>
            <a:r>
              <a:rPr lang="en-US" dirty="0"/>
              <a:t> is identified as the </a:t>
            </a:r>
            <a:r>
              <a:rPr lang="en-US" b="1" dirty="0"/>
              <a:t>top impact state</a:t>
            </a:r>
            <a:endParaRPr lang="en-US" dirty="0"/>
          </a:p>
          <a:p>
            <a:r>
              <a:rPr lang="en-US" dirty="0"/>
              <a:t>From the funnel analysis:</a:t>
            </a:r>
          </a:p>
          <a:p>
            <a:pPr lvl="1"/>
            <a:r>
              <a:rPr lang="en-US" b="1" dirty="0"/>
              <a:t>58 states</a:t>
            </a:r>
            <a:r>
              <a:rPr lang="en-US" dirty="0"/>
              <a:t> reported disasters</a:t>
            </a:r>
          </a:p>
          <a:p>
            <a:pPr lvl="1"/>
            <a:r>
              <a:rPr lang="en-US" b="1" dirty="0"/>
              <a:t>24 states</a:t>
            </a:r>
            <a:r>
              <a:rPr lang="en-US" dirty="0"/>
              <a:t> are categorized as high-risk</a:t>
            </a:r>
          </a:p>
          <a:p>
            <a:pPr lvl="1"/>
            <a:r>
              <a:rPr lang="en-US" b="1" dirty="0"/>
              <a:t>10 states</a:t>
            </a:r>
            <a:r>
              <a:rPr lang="en-US" dirty="0"/>
              <a:t> fall under top priority, representing </a:t>
            </a:r>
            <a:r>
              <a:rPr lang="en-US" b="1" dirty="0"/>
              <a:t>17.2%</a:t>
            </a:r>
            <a:endParaRPr lang="en-US" dirty="0"/>
          </a:p>
          <a:p>
            <a:r>
              <a:rPr lang="en-US" dirty="0"/>
              <a:t>The annual trend shows a </a:t>
            </a:r>
            <a:r>
              <a:rPr lang="en-US" b="1" dirty="0"/>
              <a:t>peak of 123 declarations in the year 1977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DCEF9-2034-D4CC-3F05-FDBEF7F4A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524" y="786581"/>
            <a:ext cx="3637936" cy="2045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ED49F9-303F-DBD3-69FE-42D39B7D0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524" y="2961062"/>
            <a:ext cx="3637936" cy="26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A81D-E862-EA5B-BAD4-051CAD21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881"/>
          </a:xfrm>
        </p:spPr>
        <p:txBody>
          <a:bodyPr/>
          <a:lstStyle/>
          <a:p>
            <a:r>
              <a:rPr lang="en-IN" b="1" u="sng" dirty="0"/>
              <a:t>Geographic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87F75-45ED-9A4D-6500-39A7C18E2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u="sng" dirty="0"/>
              <a:t>Explanation: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Visuals Used</a:t>
            </a:r>
          </a:p>
          <a:p>
            <a:r>
              <a:rPr lang="en-US" dirty="0"/>
              <a:t>Total Declarations by State </a:t>
            </a:r>
          </a:p>
          <a:p>
            <a:r>
              <a:rPr lang="en-US" dirty="0"/>
              <a:t>Top 10 States by Total Declarations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Key Geographic Observations</a:t>
            </a:r>
          </a:p>
          <a:p>
            <a:r>
              <a:rPr lang="en-US" dirty="0"/>
              <a:t>Disaster declarations are </a:t>
            </a:r>
            <a:r>
              <a:rPr lang="en-US" b="1" dirty="0"/>
              <a:t>unevenly distributed across states</a:t>
            </a:r>
            <a:endParaRPr lang="en-US" dirty="0"/>
          </a:p>
          <a:p>
            <a:r>
              <a:rPr lang="en-US" b="1" dirty="0"/>
              <a:t>Texas</a:t>
            </a:r>
            <a:r>
              <a:rPr lang="en-US" dirty="0"/>
              <a:t> records the </a:t>
            </a:r>
            <a:r>
              <a:rPr lang="en-US" b="1" dirty="0"/>
              <a:t>highest number of disaster declarations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small group of states contributes a major share</a:t>
            </a:r>
            <a:r>
              <a:rPr lang="en-US" dirty="0"/>
              <a:t> of total declarations</a:t>
            </a:r>
          </a:p>
          <a:p>
            <a:r>
              <a:rPr lang="en-US" dirty="0"/>
              <a:t>Several states show </a:t>
            </a:r>
            <a:r>
              <a:rPr lang="en-US" b="1" dirty="0"/>
              <a:t>moderate to low declaration counts</a:t>
            </a:r>
            <a:r>
              <a:rPr lang="en-US" dirty="0"/>
              <a:t> in comparison</a:t>
            </a:r>
          </a:p>
          <a:p>
            <a:r>
              <a:rPr lang="en-US" dirty="0"/>
              <a:t>Geographic visualization highlights </a:t>
            </a:r>
            <a:r>
              <a:rPr lang="en-US" b="1" dirty="0"/>
              <a:t>state-level variation in disaster impact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340B9B-3EE4-D789-320B-F624A1887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277" y="1002890"/>
            <a:ext cx="2341688" cy="242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37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2F24-D7D3-4AE5-D563-90C0A121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410"/>
          </a:xfrm>
        </p:spPr>
        <p:txBody>
          <a:bodyPr/>
          <a:lstStyle/>
          <a:p>
            <a:r>
              <a:rPr lang="en-IN" b="1" u="sng" dirty="0"/>
              <a:t>Interactivity – Filters (Slicers)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4973F-DBFD-0569-3406-7BF401EC4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1045"/>
            <a:ext cx="10515600" cy="5065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Filters Used</a:t>
            </a:r>
            <a:endParaRPr lang="en-US" dirty="0"/>
          </a:p>
          <a:p>
            <a:r>
              <a:rPr lang="en-US" b="1" dirty="0"/>
              <a:t>Request Incident Type</a:t>
            </a:r>
            <a:r>
              <a:rPr lang="en-US" dirty="0"/>
              <a:t> slicer to filter disaster categories</a:t>
            </a:r>
          </a:p>
          <a:p>
            <a:r>
              <a:rPr lang="en-US" dirty="0"/>
              <a:t>Interactive filters allow selection of specific disaster types</a:t>
            </a:r>
          </a:p>
          <a:p>
            <a:r>
              <a:rPr lang="en-US" dirty="0"/>
              <a:t>All visuals update dynamically based on slicer selection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Impact of Interactivity</a:t>
            </a:r>
          </a:p>
          <a:p>
            <a:r>
              <a:rPr lang="en-US" dirty="0"/>
              <a:t>Enables focused analysis for individual disaster types</a:t>
            </a:r>
          </a:p>
          <a:p>
            <a:r>
              <a:rPr lang="en-US" dirty="0"/>
              <a:t>Supports state-wise and time-based exploration</a:t>
            </a:r>
          </a:p>
          <a:p>
            <a:r>
              <a:rPr lang="en-US" dirty="0"/>
              <a:t>Improves usability and clarity of the dashboard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FE94-E905-7088-B6DA-2FD6855A9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476" y="1592826"/>
            <a:ext cx="2148013" cy="350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70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7F17-1955-1290-42B7-2A08E51B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/>
          <a:lstStyle/>
          <a:p>
            <a:r>
              <a:rPr lang="en-IN" b="1" u="sng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357FD-52E7-8307-2249-AC6571F59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48889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Content</a:t>
            </a:r>
            <a:endParaRPr lang="en-US" dirty="0"/>
          </a:p>
          <a:p>
            <a:r>
              <a:rPr lang="en-US" sz="2600" dirty="0"/>
              <a:t>A total of </a:t>
            </a:r>
            <a:r>
              <a:rPr lang="en-US" sz="2600" b="1" dirty="0"/>
              <a:t>1285 disaster declarations</a:t>
            </a:r>
            <a:r>
              <a:rPr lang="en-US" sz="2600" dirty="0"/>
              <a:t> are recorded in the dataset</a:t>
            </a:r>
          </a:p>
          <a:p>
            <a:r>
              <a:rPr lang="en-US" sz="2600" b="1" dirty="0"/>
              <a:t>Flood</a:t>
            </a:r>
            <a:r>
              <a:rPr lang="en-US" sz="2600" dirty="0"/>
              <a:t> emerges as the </a:t>
            </a:r>
            <a:r>
              <a:rPr lang="en-US" sz="2600" b="1" dirty="0"/>
              <a:t>most frequent disaster type</a:t>
            </a:r>
            <a:endParaRPr lang="en-US" sz="2600" dirty="0"/>
          </a:p>
          <a:p>
            <a:r>
              <a:rPr lang="en-US" sz="2600" b="1" dirty="0"/>
              <a:t>Texas</a:t>
            </a:r>
            <a:r>
              <a:rPr lang="en-US" sz="2600" dirty="0"/>
              <a:t> is identified as the </a:t>
            </a:r>
            <a:r>
              <a:rPr lang="en-US" sz="2600" b="1" dirty="0"/>
              <a:t>most impacted state</a:t>
            </a:r>
            <a:r>
              <a:rPr lang="en-US" sz="2600" dirty="0"/>
              <a:t> based on total declarations</a:t>
            </a:r>
          </a:p>
          <a:p>
            <a:r>
              <a:rPr lang="en-US" sz="2600" dirty="0"/>
              <a:t>Disaster declarations are </a:t>
            </a:r>
            <a:r>
              <a:rPr lang="en-US" sz="2600" b="1" dirty="0"/>
              <a:t>concentrated in a limited number of states</a:t>
            </a:r>
            <a:r>
              <a:rPr lang="en-US" sz="2600" dirty="0"/>
              <a:t>, as shown in state-wise and geographic analysis</a:t>
            </a:r>
          </a:p>
          <a:p>
            <a:r>
              <a:rPr lang="en-US" sz="2600" dirty="0"/>
              <a:t>Trend analysis highlights a </a:t>
            </a:r>
            <a:r>
              <a:rPr lang="en-US" sz="2600" b="1" dirty="0"/>
              <a:t>peak of 123 declarations in 1977</a:t>
            </a:r>
            <a:r>
              <a:rPr lang="en-US" sz="2600" dirty="0"/>
              <a:t>, with variations across years</a:t>
            </a:r>
          </a:p>
          <a:p>
            <a:r>
              <a:rPr lang="en-US" sz="2600" dirty="0"/>
              <a:t>Decade-wise analysis shows </a:t>
            </a:r>
            <a:r>
              <a:rPr lang="en-US" sz="2600" b="1" dirty="0"/>
              <a:t>higher disaster activity during specific decades</a:t>
            </a:r>
            <a:r>
              <a:rPr lang="en-US" sz="2600" dirty="0"/>
              <a:t>, especially the 1970s</a:t>
            </a:r>
          </a:p>
          <a:p>
            <a:r>
              <a:rPr lang="en-US" sz="2600" dirty="0"/>
              <a:t>The dashboard effectively supports </a:t>
            </a:r>
            <a:r>
              <a:rPr lang="en-US" sz="2600" b="1" dirty="0"/>
              <a:t>data-driven disaster risk assessment and funding prioritization</a:t>
            </a:r>
            <a:endParaRPr lang="en-US" sz="2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02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556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Visualizing-US-Natural-Disaster-Declarations-Trends-and-Patterns </vt:lpstr>
      <vt:lpstr>Dataset Overview</vt:lpstr>
      <vt:lpstr>Data Cleaning &amp; Preparation </vt:lpstr>
      <vt:lpstr>Data Modeling &amp; Measures</vt:lpstr>
      <vt:lpstr>KPI(Key Performance Indicators) Summary</vt:lpstr>
      <vt:lpstr>Visual Analysis</vt:lpstr>
      <vt:lpstr>Geographic Analysis</vt:lpstr>
      <vt:lpstr>Interactivity – Filters (Slicers)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Lakshmi Sivani Dadi</dc:creator>
  <cp:lastModifiedBy>Sri Lakshmi Sivani Dadi</cp:lastModifiedBy>
  <cp:revision>3</cp:revision>
  <dcterms:created xsi:type="dcterms:W3CDTF">2026-01-25T16:12:35Z</dcterms:created>
  <dcterms:modified xsi:type="dcterms:W3CDTF">2026-02-19T04:21:57Z</dcterms:modified>
</cp:coreProperties>
</file>